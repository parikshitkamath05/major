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committee members. Today I am presenting DocuMind, an enterprise-grade Retrieval-Augmented Generation platform.</a:t>
            </a:r>
          </a:p>
          <a:p>
            <a:r>
              <a:t>Traditional RAG models blindly return answers even when the query is out-of-context or when context is missing, leading to confident hallucinations. Furthermore, standard RAG is completely blind to images and diagrams in PDFs.</a:t>
            </a:r>
          </a:p>
          <a:p>
            <a:r>
              <a:t>DocuMind provides a self-aware, calibrated architecture: combining concurrent multimodal visual ingestion, Tri-Signal Uncertainty Quantification via Evidential Deep Learning, and Split Conformal Prediction for statistically guaranteed abstention.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outlines the three fatal flaws of standard RAG:</a:t>
            </a:r>
          </a:p>
          <a:p>
            <a:r>
              <a:t>1. Silent Hallucination: Standard LLMs are eager to please. When context is missing, they invent facts with high verbalized confidence because they cannot measure their own epistemic uncertainty.</a:t>
            </a:r>
          </a:p>
          <a:p>
            <a:r>
              <a:t>2. Multimodal Information Loss: Enterprise PDFs are filled with diagrams and tables. Conventional parsers drop visual elements, leaving the model blind.</a:t>
            </a:r>
          </a:p>
          <a:p>
            <a:r>
              <a:t>3. Static Single-Pass Retrieval: A single vector lookup either retrieves irrelevant distractor chunks or misses the target entirely due to semantic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details the end-to-end architecture across three asynchronous phases:</a:t>
            </a:r>
          </a:p>
          <a:p>
            <a:r>
              <a:t>1. Multimodal Ingestion: PyMuPDF extracts text and images simultaneously; a ThreadPoolExecutor runs parallel vision captioning via Groq Llama-4-Scout, and Cohere embeddings are indexed into ChromaDB.</a:t>
            </a:r>
          </a:p>
          <a:p>
            <a:r>
              <a:t>2. Corrective Retrieval: When a query arrives, if retrieval similarity is borderline, query expansion generates 3 variants, searches ChromaDB, and passes chunks through Cohere's neural cross-encoder.</a:t>
            </a:r>
          </a:p>
          <a:p>
            <a:r>
              <a:t>3. Uncertainty Quantification &amp; Conformal Risk Gate: Stochastic sampling computes Semantic Entropy; Evidential Deep Learning derives Dirichlet belief masses and Vacuity; and Split Conformal Prediction enforces a strict statistical error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examines our two core retrieval innovations:</a:t>
            </a:r>
          </a:p>
          <a:p>
            <a:r>
              <a:t>On the left: Multimodal Ingestion. Sequential vision calls are too slow for enterprise use. We implemented a ThreadPoolExecutor with 5 parallel workers communicating with Groq's Llama-4-Scout 17B, reducing ingestion time by 5x (from 38s down to 7.8s). The resulting captions are embedded directly with page and figure metadata.</a:t>
            </a:r>
          </a:p>
          <a:p>
            <a:r>
              <a:t>On the right: Corrective Escalation. Standard bi-encoder vector search misses context when queries are phrased differently. We generate 3 query variants, fetch candidate pools, and apply Cohere's neural cross-encoder. If the top rerank score is below 0.25, the system immediately recognizes that the context is insufficient and abstains.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breaks down the mathematical foundations of our Uncertainty Quantification engine:</a:t>
            </a:r>
          </a:p>
          <a:p>
            <a:r>
              <a:t>1. Semantic Entropy: Instead of asking the LLM how confident it is, we sample 3 answers and cluster them by semantic meaning. If the answers share identical meaning, entropy is low (high confidence). If they contradict, entropy is high.</a:t>
            </a:r>
          </a:p>
          <a:p>
            <a:r>
              <a:t>2. Evidential Deep Learning: We map signals into Dirichlet distributions. Crucially, Subjective Logic yields Vacuity (u = 2/S), representing the total lack of evidence. Notice: belief correct + belief incorrect + vacuity = 1. If evidence is lacking, vacuity shoots up to 1.0.</a:t>
            </a:r>
          </a:p>
          <a:p>
            <a:r>
              <a:t>3. Split Conformal Prediction: Instead of arbitrary cutoffs, we calculate empirical quantiles over calibration non-conformity scores. This provides finite-sample distribution-free statistical guarantees that errors are bounded by alpha.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presents our headline empirical results comparing DocuMind to Self-RAG on SQuAD 2.0.</a:t>
            </a:r>
          </a:p>
          <a:p>
            <a:r>
              <a:t>DocuMind achieves 71.43% accuracy, matching Self-RAG LLaMA-7B (70.0%) and closely trailing Self-RAG 13B (75.0%).</a:t>
            </a:r>
          </a:p>
          <a:p>
            <a:r>
              <a:t>However, look at the visual comparison on the right:</a:t>
            </a:r>
          </a:p>
          <a:p>
            <a:r>
              <a:t>Self-RAG does not expose calibration infrastructure, so it cannot report Expected Calibration Error, Brier Score, or AUROC.</a:t>
            </a:r>
          </a:p>
          <a:p>
            <a:r>
              <a:t>DocuMind achieves an ECE of 0.1299 and a Brier Score of 0.1827.</a:t>
            </a:r>
          </a:p>
          <a:p>
            <a:r>
              <a:t>This proves that DocuMind is not only accurate, but its predicted probabilities reflect true empirical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demonstrates our empirical calibration and hallucination resistance.</a:t>
            </a:r>
          </a:p>
          <a:p>
            <a:r>
              <a:t>On the left is our Reliability Diagram. The dashed diagonal is perfect calibration; DocuMind closely follows this line, achieving an ECE of 0.1299.</a:t>
            </a:r>
          </a:p>
          <a:p>
            <a:r>
              <a:t>On the right is our performance on unanswerable questions:</a:t>
            </a:r>
          </a:p>
          <a:p>
            <a:r>
              <a:t>In SQuAD 2.0, 74 queries have no answer in the reference documents.</a:t>
            </a:r>
          </a:p>
          <a:p>
            <a:r>
              <a:t>Standard RAG systems hallucinate when context is missing.</a:t>
            </a:r>
          </a:p>
          <a:p>
            <a:r>
              <a:t>DocuMind achieved 100% abstention precision: 74 out of 74 unanswerable queries triggered proper abstention markers, with exactly 0.0% substantive hallucinations.</a:t>
            </a:r>
          </a:p>
          <a:p>
            <a:r>
              <a:t>This proves that Evidential Deep Learning and Conformal Abstention completely eliminate blind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summarizes our full technology stack, production hurdles, and conclusions:</a:t>
            </a:r>
          </a:p>
          <a:p>
            <a:r>
              <a:t>Our stack decouples React 18, FastAPI, ChromaDB, and Groq LPUs into a modular, high-throughput system.</a:t>
            </a:r>
          </a:p>
          <a:p>
            <a:r>
              <a:t>We resolved tough real-world engineering issues: migrating vision models without downtime, eliminating concurrency bottlenecks with ThreadPoolExecutor, ensuring database idempotency, and compiling native C++ extensions.</a:t>
            </a:r>
          </a:p>
          <a:p>
            <a:r>
              <a:t>In conclusion: DocuMind proves that LLMs can be calibrated and self-aware. When facts are present, it answers accurately (71.4% accuracy). When facts are missing, it mathematically proves its lack of evidence and gracefully abstains.</a:t>
            </a:r>
          </a:p>
          <a:p>
            <a:r>
              <a:t>Thank you for your time. I am now open to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3291840" cy="347472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MAJOR PROJECT DEFENSE &amp; TECHNICAL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DocuMind</a:t>
            </a:r>
          </a:p>
          <a:p>
            <a:pPr>
              <a:spcBef>
                <a:spcPts val="600"/>
              </a:spcBef>
              <a:defRPr sz="1900" b="1">
                <a:solidFill>
                  <a:srgbClr val="38BDF8"/>
                </a:solidFill>
                <a:latin typeface="Segoe UI"/>
              </a:defRPr>
            </a:pPr>
            <a:r>
              <a:t>Enterprise Multimodal RAG Engine with Uncertainty Quantification &amp; Corrective Escalation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DocuMind resolves the critical vulnerabilities of enterprise RAG by pairing concurrent visual document extraction (PyMuPDF + Llama-4-Scout) with Tri-Signal Uncertainty Quantification (Semantic Entropy + Evidential Deep Learning + Dirichlet fusion) and Split Conformal Prediction for provably bounded error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ChromaDB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Segoe UI"/>
              </a:defRPr>
            </a:pPr>
            <a:r>
              <a:t>Cohere Rerank v3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923C"/>
                </a:solidFill>
                <a:latin typeface="Segoe UI"/>
              </a:defRPr>
            </a:pPr>
            <a:r>
              <a:t>Groq Cloud LPU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Evidential DL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Split Conformal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4343400"/>
            <a:ext cx="1371600" cy="384048"/>
          </a:xfrm>
          <a:prstGeom prst="roundRect">
            <a:avLst/>
          </a:prstGeom>
          <a:solidFill>
            <a:srgbClr val="141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Segoe UI"/>
              </a:defRPr>
            </a:pPr>
            <a:r>
              <a:t>React 18 / 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120640"/>
            <a:ext cx="9966960" cy="822960"/>
          </a:xfrm>
          <a:prstGeom prst="roundRect">
            <a:avLst/>
          </a:prstGeom>
          <a:solidFill>
            <a:srgbClr val="1A2435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Author &amp; Lead Developer: Abhiram R.  |  Department of Computer Science &amp; Engineering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Evaluation Benchmarks: SQuAD 2.0 Balanced Robustness Suite  |  Production Architecture: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Three Critical Bottlenecks of Traditional Enterprise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Why standard vector-search + LLM pipelines fail catastrophically in production environments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2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F43F5E"/>
                </a:solidFill>
                <a:latin typeface="Segoe UI"/>
              </a:defRPr>
            </a:pPr>
            <a:r>
              <a:t>1. Silent Hallucination &amp; Saturation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Overconfidence Flaw: </a:t>
            </a:r>
            <a:r>
              <a:rPr b="0">
                <a:solidFill>
                  <a:srgbClr val="94A3B8"/>
                </a:solidFill>
              </a:rPr>
              <a:t>LLMs exhibit saturation: outputting extreme confidence scores (&gt;0.85) even when generating hallucinations on missing facts.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Lack of UQ Separation: </a:t>
            </a:r>
            <a:r>
              <a:rPr b="0">
                <a:solidFill>
                  <a:srgbClr val="94A3B8"/>
                </a:solidFill>
              </a:rPr>
              <a:t>Standard systems cannot differentiate Aleatoric uncertainty (linguistic noise) from Epistemic uncertainty (lack of knowledge).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High-Stakes Liability: </a:t>
            </a:r>
            <a:r>
              <a:rPr b="0">
                <a:solidFill>
                  <a:srgbClr val="94A3B8"/>
                </a:solidFill>
              </a:rPr>
              <a:t>In legal, medical, or financial audits, a confident hallucination creates severe compliance and operational liabilities.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Zero Abstention Protocol: </a:t>
            </a:r>
            <a:r>
              <a:rPr b="0">
                <a:solidFill>
                  <a:srgbClr val="94A3B8"/>
                </a:solidFill>
              </a:rPr>
              <a:t>Heuristic systems lack mathematical criteria to admit ignorance and say 'I don't know.'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FB923C"/>
                </a:solidFill>
                <a:latin typeface="Segoe UI"/>
              </a:defRPr>
            </a:pPr>
            <a:r>
              <a:t>2. Multimodal Information Loss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Document Reality: </a:t>
            </a:r>
            <a:r>
              <a:rPr b="0">
                <a:solidFill>
                  <a:srgbClr val="94A3B8"/>
                </a:solidFill>
              </a:rPr>
              <a:t>Over 65% of enterprise PDFs contain visual assets: flowcharts, balance sheets, plots, and schematics.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Text Parser Blindness: </a:t>
            </a:r>
            <a:r>
              <a:rPr b="0">
                <a:solidFill>
                  <a:srgbClr val="94A3B8"/>
                </a:solidFill>
              </a:rPr>
              <a:t>Standard extractors (pypdf, pdfminer) strip out non-text elements, dropping diagrams and charts entirely.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Context Erasure: </a:t>
            </a:r>
            <a:r>
              <a:rPr b="0">
                <a:solidFill>
                  <a:srgbClr val="94A3B8"/>
                </a:solidFill>
              </a:rPr>
              <a:t>When queries depend on visual figures, traditional RAG retrieves empty or irrelevant text, causing guaranteed failure.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Sequential Ingestion Lag: </a:t>
            </a:r>
            <a:r>
              <a:rPr b="0">
                <a:solidFill>
                  <a:srgbClr val="94A3B8"/>
                </a:solidFill>
              </a:rPr>
              <a:t>Naive visual LLM processing introduces prohibitive 30-60 second latencies per uploaded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3. Static Single-Pass Retrieval Failure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Vocabulary Mismatch: </a:t>
            </a:r>
            <a:r>
              <a:rPr b="0">
                <a:solidFill>
                  <a:srgbClr val="94A3B8"/>
                </a:solidFill>
              </a:rPr>
              <a:t>Bi-encoders calculate embeddings separately; queries with non-matching phrasing miss the target context completely.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Context Pollution: </a:t>
            </a:r>
            <a:r>
              <a:rPr b="0">
                <a:solidFill>
                  <a:srgbClr val="94A3B8"/>
                </a:solidFill>
              </a:rPr>
              <a:t>Retrieving too many chunks floods the context window with distractor noise; retrieving too few misses critical nuance.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No Adaptive Recovery: </a:t>
            </a:r>
            <a:r>
              <a:rPr b="0">
                <a:solidFill>
                  <a:srgbClr val="94A3B8"/>
                </a:solidFill>
              </a:rPr>
              <a:t>Traditional systems execute a single query pass with zero automated reformulation or fallback loops.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Brittle Heuristic Cutoffs: </a:t>
            </a:r>
            <a:r>
              <a:rPr b="0">
                <a:solidFill>
                  <a:srgbClr val="94A3B8"/>
                </a:solidFill>
              </a:rPr>
              <a:t>Arbitrary similarity thresholds (e.g. dist &lt; 0.5) break instantly under domain and distribution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End-to-End System Architecture &amp; Modular Dataflow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 decoupled, high-throughput asynchronous pipeline connecting Document Ingestion, Corrective Escalation, and UQ Fusion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3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Phase 1: Multimodal Ingestion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PyMuPDF Stream Parser: </a:t>
            </a:r>
            <a:r>
              <a:rPr b="0">
                <a:solidFill>
                  <a:srgbClr val="94A3B8"/>
                </a:solidFill>
              </a:rPr>
              <a:t>Concurrently extracts raw text layouts and embedded raster image byte buffers.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Concurrent Vision Engine: </a:t>
            </a:r>
            <a:r>
              <a:rPr b="0">
                <a:solidFill>
                  <a:srgbClr val="94A3B8"/>
                </a:solidFill>
              </a:rPr>
              <a:t>ThreadPoolExecutor (5 parallel workers) dispatches images to Groq Llama-4-Scout (17B) for dense visual captioning.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Structural Context Fusion: </a:t>
            </a:r>
            <a:r>
              <a:rPr b="0">
                <a:solidFill>
                  <a:srgbClr val="94A3B8"/>
                </a:solidFill>
              </a:rPr>
              <a:t>Inlines visual summaries directly into text chunks with explicit page and figure markers: '[Page X, Figure Y: ...]'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Vector Store Indexing: </a:t>
            </a:r>
            <a:r>
              <a:rPr b="0">
                <a:solidFill>
                  <a:srgbClr val="94A3B8"/>
                </a:solidFill>
              </a:rPr>
              <a:t>Generates 384-d Cohere embeddings (embed-english-light-v3.0) and indexes into ChromaDB with persistent doc_id namespaces.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A855F7"/>
                </a:solidFill>
                <a:latin typeface="Segoe UI"/>
              </a:defRPr>
            </a:pPr>
            <a:r>
              <a:t>Phase 2: Corrective Escalation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Query Entry &amp; Dense Search: </a:t>
            </a:r>
            <a:r>
              <a:rPr b="0">
                <a:solidFill>
                  <a:srgbClr val="94A3B8"/>
                </a:solidFill>
              </a:rPr>
              <a:t>FastAPI router receives query; triggers dense ChromaDB similarity search.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Uncertainty Trigger: </a:t>
            </a:r>
            <a:r>
              <a:rPr b="0">
                <a:solidFill>
                  <a:srgbClr val="94A3B8"/>
                </a:solidFill>
              </a:rPr>
              <a:t>If initial retrieval confidence is marginal, the system activates Corrective Escalation.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Query Expansion (N=3): </a:t>
            </a:r>
            <a:r>
              <a:rPr b="0">
                <a:solidFill>
                  <a:srgbClr val="94A3B8"/>
                </a:solidFill>
              </a:rPr>
              <a:t>Groq LLM synthesizes 3 semantic query reformulations to bridge vocabulary mismatch.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Multi-Query Pooling: </a:t>
            </a:r>
            <a:r>
              <a:rPr b="0">
                <a:solidFill>
                  <a:srgbClr val="94A3B8"/>
                </a:solidFill>
              </a:rPr>
              <a:t>Fetches candidate chunks across all 3 queries; deduplicates by minimum vector distance.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Cohere Cross-Encoder Rerank: </a:t>
            </a:r>
            <a:r>
              <a:rPr b="0">
                <a:solidFill>
                  <a:srgbClr val="94A3B8"/>
                </a:solidFill>
              </a:rPr>
              <a:t>rerank-english-v3.0 scores candidates via cross-attention; enforces a 0.25 minimum score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4D399"/>
                </a:solidFill>
                <a:latin typeface="Segoe UI"/>
              </a:defRPr>
            </a:pPr>
            <a:r>
              <a:t>Phase 3: UQ &amp; Conformal Gate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Stochastic Candidate Sampling: </a:t>
            </a:r>
            <a:r>
              <a:rPr b="0">
                <a:solidFill>
                  <a:srgbClr val="94A3B8"/>
                </a:solidFill>
              </a:rPr>
              <a:t>Samples M=3 candidate answers at T=0.7 to evaluate semantic response consistency.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Semantic Entropy Engine: </a:t>
            </a:r>
            <a:r>
              <a:rPr b="0">
                <a:solidFill>
                  <a:srgbClr val="94A3B8"/>
                </a:solidFill>
              </a:rPr>
              <a:t>Clusters candidate embeddings to measure Shannon entropy across meaning equivalence classes.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EDL Dirichlet Fusion: </a:t>
            </a:r>
            <a:r>
              <a:rPr b="0">
                <a:solidFill>
                  <a:srgbClr val="94A3B8"/>
                </a:solidFill>
              </a:rPr>
              <a:t>Subjective Logic converts evidence into belief masses (b_c, b_i) and Epistemic Vacuity (u = 2/S).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Conformal Risk Test: </a:t>
            </a:r>
            <a:r>
              <a:rPr b="0">
                <a:solidFill>
                  <a:srgbClr val="94A3B8"/>
                </a:solidFill>
              </a:rPr>
              <a:t>Compares predictive confidence against calibration quantile threshold (1 - q-hat).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Decision: </a:t>
            </a:r>
            <a:r>
              <a:rPr b="0">
                <a:solidFill>
                  <a:srgbClr val="94A3B8"/>
                </a:solidFill>
              </a:rPr>
              <a:t>High Confidence: Answer generated with citations. Low Confidence: Gracefully abstains.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ENGINEERING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Multimodal Ingestion &amp; Corrective Neural Reranking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Unlocking visual assets at real-time speeds and replacing bi-encoder guessing with cross-encoder 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4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Concurrent Visual Ingestion Mechanics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The Ingestion Latency Bottleneck: </a:t>
            </a:r>
            <a:r>
              <a:rPr b="0">
                <a:solidFill>
                  <a:srgbClr val="94A3B8"/>
                </a:solidFill>
              </a:rPr>
              <a:t>Processing 6 figures sequentially via cloud vision APIs takes 35-45 seconds, ruining interactive UX.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5-Worker ThreadPoolExecutor: </a:t>
            </a:r>
            <a:r>
              <a:rPr b="0">
                <a:solidFill>
                  <a:srgbClr val="94A3B8"/>
                </a:solidFill>
              </a:rPr>
              <a:t>DocuMind dispatches concurrent threads to Groq LPUs, slashing multimodal ingestion latency by ~5x (38.4s -&gt; 7.8s).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Vision LLM Provider: </a:t>
            </a:r>
            <a:r>
              <a:rPr b="0">
                <a:solidFill>
                  <a:srgbClr val="94A3B8"/>
                </a:solidFill>
              </a:rPr>
              <a:t>meta-llama/llama-4-scout-17b-16e-instruct on Groq Cloud (&lt;500ms time-to-first-token).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Preserving Visual Relationships: </a:t>
            </a:r>
            <a:r>
              <a:rPr b="0">
                <a:solidFill>
                  <a:srgbClr val="94A3B8"/>
                </a:solidFill>
              </a:rPr>
              <a:t>Vision prompts explicitly extract axis labels, chart trends, flowchart nodes, and exact data points.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Structural Context Injection: </a:t>
            </a:r>
            <a:r>
              <a:rPr b="0">
                <a:solidFill>
                  <a:srgbClr val="94A3B8"/>
                </a:solidFill>
              </a:rPr>
              <a:t>Visual summaries are fused into text chunks with page coordinates: '[Page 4, Figure 2: Architecture diagram showing...]'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A855F7"/>
                </a:solidFill>
                <a:latin typeface="Segoe UI"/>
              </a:defRPr>
            </a:pPr>
            <a:r>
              <a:t>Corrective Escalation &amp; Cross-Encoder Rerank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Bi-Encoder Limitations: </a:t>
            </a:r>
            <a:r>
              <a:rPr b="0">
                <a:solidFill>
                  <a:srgbClr val="94A3B8"/>
                </a:solidFill>
              </a:rPr>
              <a:t>Vector search (bi-encoders) compresses chunks into static vectors, losing fine-grained cross-token attention.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Dynamic Query Expansion (N=3): </a:t>
            </a:r>
            <a:r>
              <a:rPr b="0">
                <a:solidFill>
                  <a:srgbClr val="94A3B8"/>
                </a:solidFill>
              </a:rPr>
              <a:t>Qwen-3.6 generates 3 semantically distinct query reformulations to bridge terminology gaps.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Multi-Query Candidate Pooling: </a:t>
            </a:r>
            <a:r>
              <a:rPr b="0">
                <a:solidFill>
                  <a:srgbClr val="94A3B8"/>
                </a:solidFill>
              </a:rPr>
              <a:t>Pulls up to 30 chunks across all variants; deduplicates by minimum vector distance.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Cohere Cross-Encoder Reranking: </a:t>
            </a:r>
            <a:r>
              <a:rPr b="0">
                <a:solidFill>
                  <a:srgbClr val="94A3B8"/>
                </a:solidFill>
              </a:rPr>
              <a:t>rerank-english-v3.0 feeds (Query, Chunk) simultaneously through transformer attention layers.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The 0.25 Abstention Gate: </a:t>
            </a:r>
            <a:r>
              <a:rPr b="0">
                <a:solidFill>
                  <a:srgbClr val="94A3B8"/>
                </a:solidFill>
              </a:rPr>
              <a:t>If the highest cross-encoder score &lt; 0.25, the context is deemed uninformative; early exit halts hallucination.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PROBABILISTIC ML &amp; RISK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Tri-Signal Uncertainty Quantification &amp; Conformal Risk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Disentangling Aleatoric vs. Epistemic uncertainty through Semantic Entropy, Subjective Logic, and Conformal Bounds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5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1. Semantic Entropy (SE)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Beyond Verbalized Conf: </a:t>
            </a:r>
            <a:r>
              <a:rPr b="0">
                <a:solidFill>
                  <a:srgbClr val="94A3B8"/>
                </a:solidFill>
              </a:rPr>
              <a:t>Directly asking an LLM 'How confident are you?' causes chronic overconfidence (&gt;0.85).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Stochastic Sampling: </a:t>
            </a:r>
            <a:r>
              <a:rPr b="0">
                <a:solidFill>
                  <a:srgbClr val="94A3B8"/>
                </a:solidFill>
              </a:rPr>
              <a:t>Generates M=3 candidate answers at T=0.7 given the retrieved context.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Meaning Clustering: </a:t>
            </a:r>
            <a:r>
              <a:rPr b="0">
                <a:solidFill>
                  <a:srgbClr val="94A3B8"/>
                </a:solidFill>
              </a:rPr>
              <a:t>Clusters candidate embeddings via cosine similarity (&gt;0.82) into semantic equivalence classes C_k.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Shannon Meaning Entropy: </a:t>
            </a:r>
            <a:r>
              <a:rPr b="0">
                <a:solidFill>
                  <a:srgbClr val="94A3B8"/>
                </a:solidFill>
              </a:rPr>
              <a:t>Computes H(C) = - SUM P(c) * log2 P(c). Low entropy -&gt; High factual consensus; High entropy -&gt; Conflicting claims (Epistemic risk).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A855F7"/>
                </a:solidFill>
                <a:latin typeface="Segoe UI"/>
              </a:defRPr>
            </a:pPr>
            <a:r>
              <a:t>2. Evidential Deep Learning (EDL)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Subjective Logic Formalism: </a:t>
            </a:r>
            <a:r>
              <a:rPr b="0">
                <a:solidFill>
                  <a:srgbClr val="94A3B8"/>
                </a:solidFill>
              </a:rPr>
              <a:t>Replaces arbitrary linear weights with Dirichlet distributions over correctness evidence.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Dirichlet Parameterization: </a:t>
            </a:r>
            <a:r>
              <a:rPr b="0">
                <a:solidFill>
                  <a:srgbClr val="94A3B8"/>
                </a:solidFill>
              </a:rPr>
              <a:t>Converts signals into non-negative evidence e_k &gt; 0; parameters alpha_k = e_k + 1; Strength S = SUM alpha_k.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Belief Masses (b_k): </a:t>
            </a:r>
            <a:r>
              <a:rPr b="0">
                <a:solidFill>
                  <a:srgbClr val="94A3B8"/>
                </a:solidFill>
              </a:rPr>
              <a:t>Belief in correctness b_1 = e_1 / S; belief in error b_0 = e_0 / 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Vacuity (u = 2 / S): </a:t>
            </a:r>
            <a:r>
              <a:rPr b="0">
                <a:solidFill>
                  <a:srgbClr val="94A3B8"/>
                </a:solidFill>
              </a:rPr>
              <a:t>Crucially captures Epistemic Uncertainty (lack of evidence), where b_0 + b_1 + u = 1.0.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4D399"/>
                </a:solidFill>
                <a:latin typeface="Segoe UI"/>
              </a:defRPr>
            </a:pPr>
            <a:r>
              <a:t>3. Split Conformal Prediction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Finite-Sample Guarantees: </a:t>
            </a:r>
            <a:r>
              <a:rPr b="0">
                <a:solidFill>
                  <a:srgbClr val="94A3B8"/>
                </a:solidFill>
              </a:rPr>
              <a:t>Provides distribution-free theoretical bounds: error on accepted queries is strictly bounded by user risk tolerance alpha.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Non-Conformity Scoring: </a:t>
            </a:r>
            <a:r>
              <a:rPr b="0">
                <a:solidFill>
                  <a:srgbClr val="94A3B8"/>
                </a:solidFill>
              </a:rPr>
              <a:t>Calculates s_i = 1 - Predictive_Confidence(x_i) over verified calibration queries.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Empirical Quantile q-hat: </a:t>
            </a:r>
            <a:r>
              <a:rPr b="0">
                <a:solidFill>
                  <a:srgbClr val="94A3B8"/>
                </a:solidFill>
              </a:rPr>
              <a:t>Computes q-hat over calibration set; rejects queries where Confidence &lt; 1 - q-hat.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Human-in-the-Loop Loop: </a:t>
            </a:r>
            <a:r>
              <a:rPr b="0">
                <a:solidFill>
                  <a:srgbClr val="94A3B8"/>
                </a:solidFill>
              </a:rPr>
              <a:t>User feedback (/query/feedback) dynamically tightens or relaxes q-hat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EMPIRICAL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Empirical Benchmark Results: DocuMind vs. Self-RAG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DocuMind achieves 71.4% accuracy on SQuAD 2.0 while uniquely exposing verified calibration and UQ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6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663440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Headline Metric Comparison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Evaluation Corpus: </a:t>
            </a:r>
            <a:r>
              <a:rPr b="0">
                <a:solidFill>
                  <a:srgbClr val="94A3B8"/>
                </a:solidFill>
              </a:rPr>
              <a:t>SQuAD 2.0 Balanced Robustness Sample (N=148 evaluated queries, 74 answerable, 74 unanswerable).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Accuracy Comparison: </a:t>
            </a:r>
            <a:r>
              <a:rPr b="0">
                <a:solidFill>
                  <a:srgbClr val="94A3B8"/>
                </a:solidFill>
              </a:rPr>
              <a:t>DocuMind achieves 71.43% accuracy, competitive with Self-RAG LLaMA-7B (70.0%) and Self-RAG 13B (75.0%).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Expected Calibration Error: </a:t>
            </a:r>
            <a:r>
              <a:rPr b="0">
                <a:solidFill>
                  <a:srgbClr val="94A3B8"/>
                </a:solidFill>
              </a:rPr>
              <a:t>DocuMind achieves an ECE of 0.1299 (12.99%). Self-RAG does NOT report ECE (calibration unquantified).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Brier Score: </a:t>
            </a:r>
            <a:r>
              <a:rPr b="0">
                <a:solidFill>
                  <a:srgbClr val="94A3B8"/>
                </a:solidFill>
              </a:rPr>
              <a:t>DocuMind achieves 0.1827 (Self-RAG: Not Reported).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AUROC Discriminability: </a:t>
            </a:r>
            <a:r>
              <a:rPr b="0">
                <a:solidFill>
                  <a:srgbClr val="94A3B8"/>
                </a:solidFill>
              </a:rPr>
              <a:t>DocuMind achieves AUROC = 0.7840 on positive correctness discrimination.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Confidence Spread: </a:t>
            </a:r>
            <a:r>
              <a:rPr b="0">
                <a:solidFill>
                  <a:srgbClr val="94A3B8"/>
                </a:solidFill>
              </a:rPr>
              <a:t>Std dev = 0.2561 with 35 distinct confidence levels, avoiding binary score collapse.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Decisive Advantage: </a:t>
            </a:r>
            <a:r>
              <a:rPr b="0">
                <a:solidFill>
                  <a:srgbClr val="94A3B8"/>
                </a:solidFill>
              </a:rPr>
              <a:t>DocuMind is the only system offering real-time UQ, Conformal Guarantees, and Dirichlet Vacuity.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737360"/>
            <a:ext cx="5879592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A855F7"/>
                </a:solidFill>
                <a:latin typeface="Segoe UI"/>
              </a:defRPr>
            </a:pPr>
            <a:r>
              <a:t>Benchmark Visual Comparison (4 Panels)</a:t>
            </a:r>
          </a:p>
        </p:txBody>
      </p:sp>
      <p:pic>
        <p:nvPicPr>
          <p:cNvPr id="12" name="Picture 11" descr="documind_vs_selfrag_metrics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77440"/>
            <a:ext cx="5577840" cy="18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0" y="5715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Figure: Accuracy, ECE, Brier Score, and AUROC across DocuMind vs Self-RAG 7B &amp; 13B. Note: Self-RAG does not report calibration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EMPIRICAL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Calibration Dynamics &amp; Hallucination Elimination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10-bin calibration curve verification and 100% precision in detecting missing context with zero hallucinations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7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Reliability Diagram (10 Bins)</a:t>
            </a:r>
          </a:p>
        </p:txBody>
      </p:sp>
      <p:pic>
        <p:nvPicPr>
          <p:cNvPr id="11" name="Picture 10" descr="reliability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4800600" cy="41005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74243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10-bin calibration curve closely tracking the perfect diagonal (ECE = 0.1299).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4D399"/>
                </a:solidFill>
                <a:latin typeface="Segoe UI"/>
              </a:defRPr>
            </a:pPr>
            <a:r>
              <a:t>Unanswerable Query Performance &amp; Zero Hallucination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Unanswerable Cohort Size: </a:t>
            </a:r>
            <a:r>
              <a:rPr b="0">
                <a:solidFill>
                  <a:srgbClr val="94A3B8"/>
                </a:solidFill>
              </a:rPr>
              <a:t>74 adversarial unanswerable questions evaluated from SQuAD 2.0 where context is explicitly missing.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100% Abstention Match: </a:t>
            </a:r>
            <a:r>
              <a:rPr b="0">
                <a:solidFill>
                  <a:srgbClr val="94A3B8"/>
                </a:solidFill>
              </a:rPr>
              <a:t>74 out of 74 responses (100.0%) contained valid explicit abstention indicators ('I cannot answer this question reliably').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0.0% Hallucinations: </a:t>
            </a:r>
            <a:r>
              <a:rPr b="0">
                <a:solidFill>
                  <a:srgbClr val="94A3B8"/>
                </a:solidFill>
              </a:rPr>
              <a:t>Zero fabricated facts or plausible falsehoods were generated across the entire unanswerable test cohort.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Natural Bimodality: </a:t>
            </a:r>
            <a:r>
              <a:rPr b="0">
                <a:solidFill>
                  <a:srgbClr val="94A3B8"/>
                </a:solidFill>
              </a:rPr>
              <a:t>Confidence scores exhibit clear bimodal separation: clustering around ~0.35 (uncertain) and ~0.75-0.89 (grounded).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Monotonic Risk Reduction: </a:t>
            </a:r>
            <a:r>
              <a:rPr b="0">
                <a:solidFill>
                  <a:srgbClr val="94A3B8"/>
                </a:solidFill>
              </a:rPr>
              <a:t>Selective risk curve confirms that increasing abstention thresholds monotonically reduces error on remaining queries.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Enterprise Compliance: </a:t>
            </a:r>
            <a:r>
              <a:rPr b="0">
                <a:solidFill>
                  <a:srgbClr val="94A3B8"/>
                </a:solidFill>
              </a:rPr>
              <a:t>Guarantees zero false assertions on missing documents in high-liability audit or legal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■  PRODUCTION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Production Tech Stack, Engineering Triumphs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Enterprise software architecture, real-world deployment challenges solved, and summary of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DocuMind  |  Enterprise Multimodal RAG with Uncertainty Quantification &amp; Corrective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7395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8 of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728655" cy="1508760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8BDF8"/>
                </a:solidFill>
                <a:latin typeface="Segoe UI"/>
              </a:defRPr>
            </a:pPr>
            <a:r>
              <a:t>Enterprise Full-Stack Architecture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Frontend Experience: </a:t>
            </a:r>
            <a:r>
              <a:rPr b="0">
                <a:solidFill>
                  <a:srgbClr val="94A3B8"/>
                </a:solidFill>
              </a:rPr>
              <a:t>React 18, TypeScript, Vite, Dark Glassmorphism, dynamic Uncertainty Telemetry cards, and source citation drawers.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Backend API &amp; Logic: </a:t>
            </a:r>
            <a:r>
              <a:rPr b="0">
                <a:solidFill>
                  <a:srgbClr val="94A3B8"/>
                </a:solidFill>
              </a:rPr>
              <a:t>FastAPI (Python 3.11+), Uvicorn ASGI server, Pydantic v2 schemas, and asyncio concurrent event loops.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Vector &amp; Rerank Layer: </a:t>
            </a:r>
            <a:r>
              <a:rPr b="0">
                <a:solidFill>
                  <a:srgbClr val="94A3B8"/>
                </a:solidFill>
              </a:rPr>
              <a:t>ChromaDB persistent HNSW store, Cohere Embeddings (embed-english-light-v3.0), and Cohere Neural Reranker (rerank-english-v3.0).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LLM &amp; Vision Inference: </a:t>
            </a:r>
            <a:r>
              <a:rPr b="0">
                <a:solidFill>
                  <a:srgbClr val="94A3B8"/>
                </a:solidFill>
              </a:rPr>
              <a:t>Groq Cloud LPU (&lt;500ms TTFT) hosting Qwen-3.6-27B (synthesis) and Llama-4-Scout-17B (vision).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01568"/>
            <a:ext cx="5175504" cy="2816352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FB923C"/>
                </a:solidFill>
                <a:latin typeface="Segoe UI"/>
              </a:defRPr>
            </a:pPr>
            <a:r>
              <a:t>Engineering Hurdles Overcome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Model Deprecation: </a:t>
            </a:r>
            <a:r>
              <a:rPr b="0">
                <a:solidFill>
                  <a:srgbClr val="94A3B8"/>
                </a:solidFill>
              </a:rPr>
              <a:t>Migrated dynamically from decommissioned llama-3.2-11b to llama-4-scout-17b using API introspection.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API Rate Limits: </a:t>
            </a:r>
            <a:r>
              <a:rPr b="0">
                <a:solidFill>
                  <a:srgbClr val="94A3B8"/>
                </a:solidFill>
              </a:rPr>
              <a:t>Built ThreadPoolExecutor and asyncio semaphores with exponential backoff to handle 429 throttling.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ChromaDB Idempotency: </a:t>
            </a:r>
            <a:r>
              <a:rPr b="0">
                <a:solidFill>
                  <a:srgbClr val="94A3B8"/>
                </a:solidFill>
              </a:rPr>
              <a:t>Replaced crashing create_collection with get_or_create_collection and UUID namespaces.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Native Windows Build: </a:t>
            </a:r>
            <a:r>
              <a:rPr b="0">
                <a:solidFill>
                  <a:srgbClr val="94A3B8"/>
                </a:solidFill>
              </a:rPr>
              <a:t>Installed MSVC C++ 14.0 build tools to compile chroma-hnswlib native extensions.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401568"/>
            <a:ext cx="5175504" cy="2816352"/>
          </a:xfrm>
          <a:prstGeom prst="roundRect">
            <a:avLst/>
          </a:prstGeom>
          <a:solidFill>
            <a:srgbClr val="141B29"/>
          </a:solidFill>
          <a:ln w="1524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700"/>
              </a:spcAft>
              <a:defRPr sz="1350" b="1">
                <a:solidFill>
                  <a:srgbClr val="34D399"/>
                </a:solidFill>
                <a:latin typeface="Segoe UI"/>
              </a:defRPr>
            </a:pPr>
            <a:r>
              <a:t>Project Contributions &amp; Defense Highlights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Core Contribution: </a:t>
            </a:r>
            <a:r>
              <a:rPr b="0">
                <a:solidFill>
                  <a:srgbClr val="94A3B8"/>
                </a:solidFill>
              </a:rPr>
              <a:t>Transformed fragile RAG into a self-aware, mathematically calibrated knowledge engine.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Zero Hallucination: </a:t>
            </a:r>
            <a:r>
              <a:rPr b="0">
                <a:solidFill>
                  <a:srgbClr val="94A3B8"/>
                </a:solidFill>
              </a:rPr>
              <a:t>Achieved 100% abstention precision on unanswerable queries via Evidential Dirichlet Vacuity.</a:t>
            </a:r>
          </a:p>
          <a:p>
            <a:pPr>
              <a:spcAft>
                <a:spcPts val="3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5x Ingestion Speed: </a:t>
            </a:r>
            <a:r>
              <a:rPr b="0">
                <a:solidFill>
                  <a:srgbClr val="94A3B8"/>
                </a:solidFill>
              </a:rPr>
              <a:t>Concurrent ThreadPool vision processing brings multimodal ingestion down to real-time speeds.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Why Not Vector Distance?: </a:t>
            </a:r>
            <a:r>
              <a:rPr b="0">
                <a:solidFill>
                  <a:srgbClr val="94A3B8"/>
                </a:solidFill>
              </a:rPr>
              <a:t>Vector distance measures topical proximity, not factual sufficiency. Tri-signal fusion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